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19abe5a4074551" /><Relationship Type="http://schemas.openxmlformats.org/officeDocument/2006/relationships/extended-properties" Target="/docProps/app.xml" Id="R1114c877eeb648a0" /><Relationship Type="http://schemas.openxmlformats.org/officeDocument/2006/relationships/officeDocument" Target="/ppt/presentation.xml" Id="R99eba9f839ed48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8aca57c5784a7e"/>
  </p:sldMasterIdLst>
  <p:notesMasterIdLst>
    <p:notesMasterId xmlns:r="http://schemas.openxmlformats.org/officeDocument/2006/relationships" r:id="Rbe95e3d26ef342db"/>
  </p:notesMasterIdLst>
  <p:sldIdLst>
    <p:sldId xmlns:r="http://schemas.openxmlformats.org/officeDocument/2006/relationships" id="256" r:id="Raeed233f7e214bcc"/>
    <p:sldId xmlns:r="http://schemas.openxmlformats.org/officeDocument/2006/relationships" id="257" r:id="Re4e0c7a020fa4950"/>
    <p:sldId xmlns:r="http://schemas.openxmlformats.org/officeDocument/2006/relationships" id="258" r:id="Rf4f05c850ce74934"/>
    <p:sldId xmlns:r="http://schemas.openxmlformats.org/officeDocument/2006/relationships" id="259" r:id="Rd866d80553c04d70"/>
    <p:sldId xmlns:r="http://schemas.openxmlformats.org/officeDocument/2006/relationships" id="260" r:id="R750c526533d34013"/>
    <p:sldId xmlns:r="http://schemas.openxmlformats.org/officeDocument/2006/relationships" id="261" r:id="R47e345d1ebd1461e"/>
    <p:sldId xmlns:r="http://schemas.openxmlformats.org/officeDocument/2006/relationships" id="262" r:id="Ra23b4ffa014a4d3b"/>
    <p:sldId xmlns:r="http://schemas.openxmlformats.org/officeDocument/2006/relationships" id="263" r:id="Rc810836c26524432"/>
    <p:sldId xmlns:r="http://schemas.openxmlformats.org/officeDocument/2006/relationships" id="264" r:id="Rdb336bdab7aa412b"/>
    <p:sldId xmlns:r="http://schemas.openxmlformats.org/officeDocument/2006/relationships" id="265" r:id="Rbdd0f1a95bc64406"/>
    <p:sldId xmlns:r="http://schemas.openxmlformats.org/officeDocument/2006/relationships" id="266" r:id="R76ee4a9f871e48e8"/>
    <p:sldId xmlns:r="http://schemas.openxmlformats.org/officeDocument/2006/relationships" id="267" r:id="R368a1a9e694e48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b4b7eec5024613" /><Relationship Type="http://schemas.openxmlformats.org/officeDocument/2006/relationships/slideMaster" Target="/ppt/slideMasters/slideMaster1.xml" Id="R5d8aca57c5784a7e" /><Relationship Type="http://schemas.openxmlformats.org/officeDocument/2006/relationships/notesMaster" Target="/ppt/notesMasters/notesMaster1.xml" Id="Rbe95e3d26ef342db" /><Relationship Type="http://schemas.openxmlformats.org/officeDocument/2006/relationships/presProps" Target="/ppt/presProps.xml" Id="R7198299609794b6b" /><Relationship Type="http://schemas.openxmlformats.org/officeDocument/2006/relationships/tableStyles" Target="/ppt/tableStyles.xml" Id="R507bc57e98424fc7" /><Relationship Type="http://schemas.openxmlformats.org/officeDocument/2006/relationships/slide" Target="/ppt/slides/slide1.xml" Id="Raeed233f7e214bcc" /><Relationship Type="http://schemas.openxmlformats.org/officeDocument/2006/relationships/slide" Target="/ppt/slides/slide2.xml" Id="Re4e0c7a020fa4950" /><Relationship Type="http://schemas.openxmlformats.org/officeDocument/2006/relationships/slide" Target="/ppt/slides/slide3.xml" Id="Rf4f05c850ce74934" /><Relationship Type="http://schemas.openxmlformats.org/officeDocument/2006/relationships/slide" Target="/ppt/slides/slide4.xml" Id="Rd866d80553c04d70" /><Relationship Type="http://schemas.openxmlformats.org/officeDocument/2006/relationships/slide" Target="/ppt/slides/slide5.xml" Id="R750c526533d34013" /><Relationship Type="http://schemas.openxmlformats.org/officeDocument/2006/relationships/slide" Target="/ppt/slides/slide6.xml" Id="R47e345d1ebd1461e" /><Relationship Type="http://schemas.openxmlformats.org/officeDocument/2006/relationships/slide" Target="/ppt/slides/slide7.xml" Id="Ra23b4ffa014a4d3b" /><Relationship Type="http://schemas.openxmlformats.org/officeDocument/2006/relationships/slide" Target="/ppt/slides/slide8.xml" Id="Rc810836c26524432" /><Relationship Type="http://schemas.openxmlformats.org/officeDocument/2006/relationships/slide" Target="/ppt/slides/slide9.xml" Id="Rdb336bdab7aa412b" /><Relationship Type="http://schemas.openxmlformats.org/officeDocument/2006/relationships/slide" Target="/ppt/slides/slide10.xml" Id="Rbdd0f1a95bc64406" /><Relationship Type="http://schemas.openxmlformats.org/officeDocument/2006/relationships/slide" Target="/ppt/slides/slide11.xml" Id="R76ee4a9f871e48e8" /><Relationship Type="http://schemas.openxmlformats.org/officeDocument/2006/relationships/slide" Target="/ppt/slides/slide12.xml" Id="R368a1a9e694e48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865877c23e4a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1a9e411c8402c" /><Relationship Type="http://schemas.openxmlformats.org/officeDocument/2006/relationships/notesMaster" Target="/ppt/notesMasters/notesMaster1.xml" Id="Rd019444762f440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f54a8673c347cd" /><Relationship Type="http://schemas.openxmlformats.org/officeDocument/2006/relationships/notesMaster" Target="/ppt/notesMasters/notesMaster1.xml" Id="Re540834fa0ef45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7d6c45d2614489" /><Relationship Type="http://schemas.openxmlformats.org/officeDocument/2006/relationships/notesMaster" Target="/ppt/notesMasters/notesMaster1.xml" Id="Rc061a7b5ac924c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b361d75e3442d9" /><Relationship Type="http://schemas.openxmlformats.org/officeDocument/2006/relationships/notesMaster" Target="/ppt/notesMasters/notesMaster1.xml" Id="R6688200b802b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019f91beb4fbb" /><Relationship Type="http://schemas.openxmlformats.org/officeDocument/2006/relationships/notesMaster" Target="/ppt/notesMasters/notesMaster1.xml" Id="R988b959e1f604f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e8516b7b404a25" /><Relationship Type="http://schemas.openxmlformats.org/officeDocument/2006/relationships/notesMaster" Target="/ppt/notesMasters/notesMaster1.xml" Id="R011b4eeab98a4f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9cc24f592045b7" /><Relationship Type="http://schemas.openxmlformats.org/officeDocument/2006/relationships/notesMaster" Target="/ppt/notesMasters/notesMaster1.xml" Id="Rc6be28f7d73a48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716697e15a49d6" /><Relationship Type="http://schemas.openxmlformats.org/officeDocument/2006/relationships/notesMaster" Target="/ppt/notesMasters/notesMaster1.xml" Id="R146d1cc69d4143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d5522387084bfc" /><Relationship Type="http://schemas.openxmlformats.org/officeDocument/2006/relationships/notesMaster" Target="/ppt/notesMasters/notesMaster1.xml" Id="R95099ea0058c45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48bde4a8b84486" /><Relationship Type="http://schemas.openxmlformats.org/officeDocument/2006/relationships/notesMaster" Target="/ppt/notesMasters/notesMaster1.xml" Id="R47ab7042850847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ffd55f3a1b4c84" /><Relationship Type="http://schemas.openxmlformats.org/officeDocument/2006/relationships/notesMaster" Target="/ppt/notesMasters/notesMaster1.xml" Id="Ra46f8956496049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1f020dfd584c48" /><Relationship Type="http://schemas.openxmlformats.org/officeDocument/2006/relationships/notesMaster" Target="/ppt/notesMasters/notesMaster1.xml" Id="R534decc01c4e41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  <a:p xmlns:a="http://schemas.openxmlformats.org/drawingml/2006/main">
            <a:r>
              <a:t>D:\InnCoreTech\Scratch_Detection\lite_evaluation.json</a:t>
            </a:r>
          </a:p>
          <a:p xmlns:a="http://schemas.openxmlformats.org/drawingml/2006/main">
            <a:r>
              <a:t>D:\InnCoreTech\Scratch_Detection\coco_instance_dataset/images/train/frame_639085097321918120.png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  <a:p xmlns:a="http://schemas.openxmlformats.org/drawingml/2006/main">
            <a:r>
              <a:t>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  <a:p xmlns:a="http://schemas.openxmlformats.org/drawingml/2006/main">
            <a:r>
              <a:t>D:\InnCoreTech\Scratch_Detection\one_ai_model.onnx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D:\InnCoreTech\Scratch_Detection\scratch_lite_model.py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D:\InnCoreTech\Scratch_Detection\lite_split_manifest.json</a:t>
            </a:r>
          </a:p>
          <a:p xmlns:a="http://schemas.openxmlformats.org/drawingml/2006/main">
            <a:r>
              <a:t>D:\InnCoreTech\Scratch_Detection\train_scratch_lite.py</a:t>
            </a:r>
          </a:p>
          <a:p xmlns:a="http://schemas.openxmlformats.org/drawingml/2006/main">
            <a:r>
              <a:t>D:\InnCoreTech\Scratch_Detection\lite_training_history.json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D:\InnCoreTech\Scratch_Detection\train_scratch.py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D:\InnCoreTech\Scratch_Detection\lite_comparison_057.jpg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D:\InnCoreTech\Scratch_Detection\lite_evaluation.json</a:t>
            </a:r>
          </a:p>
          <a:p xmlns:a="http://schemas.openxmlformats.org/drawingml/2006/main">
            <a:r>
              <a:t>D:\InnCoreTech\Scratch_Detection\data_audit.json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D:\InnCoreTech\Scratch_Detection\detect_scratches_lite.py</a:t>
            </a:r>
          </a:p>
          <a:p xmlns:a="http://schemas.openxmlformats.org/drawingml/2006/main">
            <a:r>
              <a:t>D:\InnCoreTech\Scratch_Detection\run_video.bat</a:t>
            </a:r>
          </a:p>
          <a:p xmlns:a="http://schemas.openxmlformats.org/drawingml/2006/main">
            <a:r>
              <a:t>D:\InnCoreTech\Scratch_Detection\scratch_lite.json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D:\InnCoreTech\Scratch_Detection\train_scratch_lite.py</a:t>
            </a:r>
          </a:p>
          <a:p xmlns:a="http://schemas.openxmlformats.org/drawingml/2006/main">
            <a:r>
              <a:t>D:\InnCoreTech\Scratch_Detection\scratch_lite_model.py</a:t>
            </a:r>
          </a:p>
          <a:p xmlns:a="http://schemas.openxmlformats.org/drawingml/2006/main">
            <a:r>
              <a:t>D:\InnCoreTech\Scratch_Detection\lite_training_history.json</a:t>
            </a:r>
          </a:p>
          <a:p xmlns:a="http://schemas.openxmlformats.org/drawingml/2006/main">
            <a:r>
              <a:t>D:\InnCoreTech\Scratch_Detection\lite_evaluation.json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ecf99c31940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215eea99034bc3" /><Relationship Type="http://schemas.openxmlformats.org/officeDocument/2006/relationships/slideLayout" Target="/ppt/slideLayouts/slideLayout1.xml" Id="Rcb2fc4ee214449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2fc4ee214449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0d03267a3442f" /><Relationship Type="http://schemas.openxmlformats.org/officeDocument/2006/relationships/image" Target="/ppt/media/image.png" Id="Rc9ea6f16bb37471d" /><Relationship Type="http://schemas.openxmlformats.org/officeDocument/2006/relationships/notesSlide" Target="/ppt/notesSlides/notesSlide1.xml" Id="R36a7770c0a0b44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1062a035f4720" /><Relationship Type="http://schemas.openxmlformats.org/officeDocument/2006/relationships/chart" Target="/ppt/slides/charts/chart1.xml" Id="R9a18127c441c4a69" /><Relationship Type="http://schemas.openxmlformats.org/officeDocument/2006/relationships/notesSlide" Target="/ppt/notesSlides/notesSlide2.xml" Id="R3a789856c3ff40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77b119aeb4c05" /><Relationship Type="http://schemas.openxmlformats.org/officeDocument/2006/relationships/notesSlide" Target="/ppt/notesSlides/notesSlide3.xml" Id="R9b64995fac2348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3fa06a3434b0e" /><Relationship Type="http://schemas.openxmlformats.org/officeDocument/2006/relationships/notesSlide" Target="/ppt/notesSlides/notesSlide4.xml" Id="R724c0f811fc9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f1722baab4606" /><Relationship Type="http://schemas.openxmlformats.org/officeDocument/2006/relationships/notesSlide" Target="/ppt/notesSlides/notesSlide5.xml" Id="R2c50ae00a20945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b164fe81541e2" /><Relationship Type="http://schemas.openxmlformats.org/officeDocument/2006/relationships/notesSlide" Target="/ppt/notesSlides/notesSlide6.xml" Id="R44007d06d21644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cdfdae4744f56" /><Relationship Type="http://schemas.openxmlformats.org/officeDocument/2006/relationships/notesSlide" Target="/ppt/notesSlides/notesSlide7.xml" Id="R78c37859cf2743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99889b8ca45ee" /><Relationship Type="http://schemas.openxmlformats.org/officeDocument/2006/relationships/chart" Target="/ppt/slides/charts/chart2.xml" Id="Rd9180c60ab034eb1" /><Relationship Type="http://schemas.openxmlformats.org/officeDocument/2006/relationships/notesSlide" Target="/ppt/notesSlides/notesSlide8.xml" Id="R618e4fe3e6d44d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947db70b841f6" /><Relationship Type="http://schemas.openxmlformats.org/officeDocument/2006/relationships/image" Target="/ppt/media/image.jpeg" Id="R8416c285d53b4f70" /><Relationship Type="http://schemas.openxmlformats.org/officeDocument/2006/relationships/notesSlide" Target="/ppt/notesSlides/notesSlide9.xml" Id="Ra4878b44cd8c42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aa85def5e4cd9" /><Relationship Type="http://schemas.openxmlformats.org/officeDocument/2006/relationships/notesSlide" Target="/ppt/notesSlides/notesSlide10.xml" Id="Rbfc8d7cae21c46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cf845f8004fa3" /><Relationship Type="http://schemas.openxmlformats.org/officeDocument/2006/relationships/notesSlide" Target="/ppt/notesSlides/notesSlide11.xml" Id="Rc86efeb749b245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a695819ee4f95" /><Relationship Type="http://schemas.openxmlformats.org/officeDocument/2006/relationships/notesSlide" Target="/ppt/notesSlides/notesSlide12.xml" Id="Rce992afee974425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ONNX容量（MB）</c:v>
          </c:tx>
          <c:dPt>
            <c:idx val="0"/>
            <c:invertIfNegative val="0"/>
            <c:spPr>
              <a:solidFill xmlns:a="http://schemas.openxmlformats.org/drawingml/2006/main">
                <a:srgbClr val="8CA0B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5CDD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cat>
            <c:strLit>
              <c:ptCount val="3"/>
              <c:pt idx="0">
                <c:v>元モデル</c:v>
              </c:pt>
              <c:pt idx="1">
                <c:v>前回の大型版</c:v>
              </c:pt>
              <c:pt idx="2">
                <c:v>軽量版</c:v>
              </c:pt>
            </c:strLit>
          </c:cat>
          <c:val>
            <c:numLit>
              <c:formatCode>0.00</c:formatCode>
              <c:ptCount val="3"/>
              <c:pt idx="0">
                <c:v>1.157553</c:v>
              </c:pt>
              <c:pt idx="1">
                <c:v>49.885085</c:v>
              </c:pt>
              <c:pt idx="2">
                <c:v>1.174373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D42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元モデル</c:v>
          </c:tx>
          <c:spPr>
            <a:solidFill xmlns:a="http://schemas.openxmlformats.org/drawingml/2006/main">
              <a:srgbClr val="8CA0B2"/>
            </a:solidFill>
          </c:spPr>
          <c:cat>
            <c:strLit>
              <c:ptCount val="3"/>
              <c:pt idx="0">
                <c:v>全体Dice</c:v>
              </c:pt>
              <c:pt idx="1">
                <c:v>小傷の画素再現率</c:v>
              </c:pt>
              <c:pt idx="2">
                <c:v>細傷の画素再現率</c:v>
              </c:pt>
            </c:strLit>
          </c:cat>
          <c:val>
            <c:numLit>
              <c:formatCode>0.0</c:formatCode>
              <c:ptCount val="3"/>
              <c:pt idx="0">
                <c:v>71.4535901926</c:v>
              </c:pt>
              <c:pt idx="1">
                <c:v>70.6795858774</c:v>
              </c:pt>
              <c:pt idx="2">
                <c:v>60.284463895</c:v>
              </c:pt>
            </c:numLit>
          </c:val>
        </c:ser>
        <c:ser>
          <c:idx val="1"/>
          <c:order val="1"/>
          <c:tx>
            <c:v>軽量版</c:v>
          </c:tx>
          <c:spPr>
            <a:solidFill xmlns:a="http://schemas.openxmlformats.org/drawingml/2006/main">
              <a:srgbClr val="087F8C"/>
            </a:solidFill>
          </c:spPr>
          <c:cat>
            <c:strLit>
              <c:ptCount val="3"/>
              <c:pt idx="0">
                <c:v>全体Dice</c:v>
              </c:pt>
              <c:pt idx="1">
                <c:v>小傷の画素再現率</c:v>
              </c:pt>
              <c:pt idx="2">
                <c:v>細傷の画素再現率</c:v>
              </c:pt>
            </c:strLit>
          </c:cat>
          <c:val>
            <c:numLit>
              <c:formatCode>0.0</c:formatCode>
              <c:ptCount val="3"/>
              <c:pt idx="0">
                <c:v>79.3751926832</c:v>
              </c:pt>
              <c:pt idx="1">
                <c:v>79.6522431643</c:v>
              </c:pt>
              <c:pt idx="2">
                <c:v>67.7242888403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2D42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F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eiryo"/>
              <a:ea typeface="Meiryo"/>
              <a:cs typeface="Meiry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1C7D6-6F90-4823-88CE-020DA5F5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D64E0-BCBD-4A7E-9FFA-EAE81D63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軽量スクラッチ</a:t>
            </a:r>
          </a:p>
          <a:p xmlns:a="http://schemas.openxmlformats.org/drawingml/2006/main">
            <a:pPr algn="l">
              <a:defRPr sz="46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検出モデル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912B-D90E-4131-8539-86AD28F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構造・学習方法・評価結果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852E7-E2DC-41D8-AAD9-DE0521A2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ScratchLite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4F8F9-BB4F-40A7-8E7D-685C8DF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2026年9月30日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a6f16bb37471d"/>
          <a:srcRect xmlns:a="http://schemas.openxmlformats.org/drawingml/2006/main" l="25157" t="0" r="251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000625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81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6CE87-052D-484A-8331-842E08C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元モデルとほぼ同じ容量に再設計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38879-F60B-4FED-BB76-058A4FCF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7762875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18127c441c4a6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1598D-513D-40FA-B275-7E920290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97.6%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37F34-7AE8-4FF0-B0C1-4AE82575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大型版から容量削減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C2807-C6FE-40B9-BDEF-A1691581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FP32のまま</a:t>
            </a:r>
          </a:p>
          <a:p xmlns:a="http://schemas.openxmlformats.org/drawingml/2006/main">
            <a:pPr algn="l"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量子化は不使用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70B27-6807-49CB-B21B-9F5B9C9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元モデル 1.158MB ／ 軽量版 1.174MB。MBは1,000,000 bytesとして計算。</a:t>
            </a:r>
          </a:p>
        </p:txBody>
      </p:sp>
    </p:spTree>
    <p:extLst>
      <p:ext uri="{BB962C8B-B14F-4D97-AF65-F5344CB8AC3E}">
        <p14:creationId xmlns:p14="http://schemas.microsoft.com/office/powerpoint/2010/main" val="1277890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32A54-F1E2-4353-AFEC-9C53B113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全体構成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F0A50-63A9-43BB-8CBA-71CF2445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99045-A840-4059-B840-C9433EC6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元の検出経路を固定し、元解像度で輪郭を補正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5E3D8-A217-49CB-9F52-CB6028F9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RGB画像</a:t>
            </a:r>
          </a:p>
          <a:p xmlns:a="http://schemas.openxmlformats.org/drawingml/2006/main">
            <a:pPr algn="ctr">
              <a:defRPr sz="195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15B8C-FAE7-4E18-B794-F32993AF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縮小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256 × 505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40B23-64F9-4364-B667-96C8C13A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859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畳み込み20層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32F16-9C77-4730-A99C-9E501DA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85950"/>
            <a:ext cx="2047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8CA0B2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拡大・制限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基準値 L_prior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F91F5-A3C4-46BC-907C-D61E9A49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71925"/>
            <a:ext cx="3095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元解像度のRGB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局所コントラスト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59F8F-C87A-427C-9073-FA99A54B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719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輪郭補正 + 加算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学習する部分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3E397-57FD-4146-95D3-FA18887C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71925"/>
            <a:ext cx="1390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Sigmoid</a:t>
            </a:r>
          </a:p>
          <a:p xmlns:a="http://schemas.openxmlformats.org/drawingml/2006/main">
            <a:pPr algn="ctr">
              <a:defRPr sz="1725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725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傷の確率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209800" y="2343150"/>
            <a:ext cx="7429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14875" y="2343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2343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09800" y="3305175"/>
            <a:ext cx="74295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48375" y="44577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8501063" y="2800350"/>
            <a:ext cx="285750" cy="1171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667875" y="44577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1B09B-2E2A-4580-A82C-6F5CC62B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重みを固定：285,521パラメーター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55AAC-ED69-4440-887D-ADC3092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補正層：2,741パラメーター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97468-B912-4B07-9064-B343F93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L_priorは元モデルの出力ロジットを補間し、−8～8に制限した値。画像全体を入力する。</a:t>
            </a:r>
          </a:p>
        </p:txBody>
      </p:sp>
    </p:spTree>
    <p:extLst>
      <p:ext uri="{BB962C8B-B14F-4D97-AF65-F5344CB8AC3E}">
        <p14:creationId xmlns:p14="http://schemas.microsoft.com/office/powerpoint/2010/main" val="1680667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AE70F-97CE-492A-A4B5-879FEA7D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元モデルを再利用する経路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6CB6F-8C2A-49A6-893D-8CFC939F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238500"/>
                <a:gridCol w="1524000"/>
                <a:gridCol w="3257550"/>
              </a:tblGrid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空間サイズ（高さ × 幅）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チャネル数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主な処理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256 × 505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RGBのR成分を選択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初期処理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畳み込み + MaxPool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エンコーダー①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 × 126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残差ブロック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エンコーダー②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 × 63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残差ブロック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デコーダー①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 × 126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拡大 + 残差ブロック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結合・デコーダー②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特徴結合 + 拡大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128 × 252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16チャネルを経由して出力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EFD87-9EF7-47F2-B22D-AFD68D4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元モデルの学習済み重みをそのまま移植し、追加学習では更新しない。</a:t>
            </a:r>
          </a:p>
        </p:txBody>
      </p:sp>
    </p:spTree>
    <p:extLst>
      <p:ext uri="{BB962C8B-B14F-4D97-AF65-F5344CB8AC3E}">
        <p14:creationId xmlns:p14="http://schemas.microsoft.com/office/powerpoint/2010/main" val="1597244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EE37E-630F-44B0-ACB7-583E66A0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元解像度の補正層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F6865-221A-4CAF-BFBC-CDD278A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10D86-23F0-42BD-BFF1-C0049FA4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5チャネルの入力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89BC-8B97-492E-9882-4FAAC1A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RGB 3成分 + 基準確率 1成分 + 局所コントラスト 1成分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AECD-CF9D-4AA8-AC70-E66D05F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入力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H × W ×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9A7F5-73DE-406E-9B73-C5315AB3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5 →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E5E93-9809-4E90-95BA-5F852F98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 →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8D9E8-350F-47AD-A0CF-9E17ABDC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3 × 3 Conv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12 →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CAADE-2D29-4275-9677-8F2F4745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1638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5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1 × 1 Conv</a:t>
            </a:r>
          </a:p>
          <a:p xmlns:a="http://schemas.openxmlformats.org/drawingml/2006/main">
            <a:pPr algn="ctr">
              <a:defRPr sz="180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8 → 1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8850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33875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438900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43925" y="32385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988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E6DCC-235C-4464-AB67-88C67BAB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各3 × 3畳み込みの後にReLU。空間サイズはH × Wのまま。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35872-F6BD-42EB-AD73-D1E6DE93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L_out = L_prior + ΔL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5C816-4510-4AC1-B975-0ACDDC81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053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p = sigmoid(L_out)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2E281-525E-445D-8C58-2D95E09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局所コントラスト = RGB平均 − 5 × 5近傍平均。補正層は画像を縮小しない。</a:t>
            </a:r>
          </a:p>
        </p:txBody>
      </p:sp>
    </p:spTree>
    <p:extLst>
      <p:ext uri="{BB962C8B-B14F-4D97-AF65-F5344CB8AC3E}">
        <p14:creationId xmlns:p14="http://schemas.microsoft.com/office/powerpoint/2010/main" val="578756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5E102-CEB9-45A5-B1F9-678591ED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学習データとモデル選択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D8AB9-39C5-4D6D-B394-6B7C4F0D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44767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381125"/>
              </a:tblGrid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画像数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補正層の学習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143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検証・閾値選択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開発評価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境界付近の除外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233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C282-7847-4A8F-9D6D-A47AE74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撮影順で区間を分割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E19B5-1276-4DE7-9F93-45EF31A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5810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撮影区間内の後半を検証・評価に使用。</a:t>
            </a:r>
          </a:p>
          <a:p xmlns:a="http://schemas.openxmlformats.org/drawingml/2006/main">
            <a:pPr algn="l"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分割境界の前後に除外画像を設ける。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9BAE0-EC52-4C2A-8FED-395B4EF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814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補正層のみ40エポック学習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A9693-FFD5-4E03-818A-A7ABB21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5810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検証Diceでチェックポイントと閾値を選択。</a:t>
            </a:r>
          </a:p>
          <a:p xmlns:a="http://schemas.openxmlformats.org/drawingml/2006/main">
            <a:pPr algn="l"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採用は22エポック目、閾値0.8。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FC5A6-97CC-4081-937E-FA5B60A8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同一被写体・同一撮影系列のデータ。新たな撮影条件での独立評価ではない。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771478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DCF94-E10A-4512-9534-2C2F699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評価指標の読み方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81806-098C-47D8-82AE-545C6BA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C7BC9-833B-4839-B8C6-C02EC04B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全体の一致度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42F3C-7BF0-4BBF-AD62-6FBB52E4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Dice = 2TP / (2TP + FP + FN)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5A2CE-79F6-466F-B42B-664874F1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正解の傷領域と予測領域の重なりを測る。誤検出と見逃しの両方を反映。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6CC1E-694C-48B1-9C30-ECC6B368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小傷・細傷の画素再現率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5AD19-B525-43EF-B465-2108303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注釈で傷とした画素のうち、何％を検出したか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7618F-A5A7-4154-9E01-27330E06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小傷：面積1,024画素以下。細傷：2 × 面積 ÷ 外周長が6画素以下。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9E824-295F-4E7F-B398-0AEF6A42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TP：正しく検出した傷画素、FP：誤検出画素、FN：見逃した傷画素。個数の検出率とは異なる。</a:t>
            </a:r>
          </a:p>
        </p:txBody>
      </p:sp>
    </p:spTree>
    <p:extLst>
      <p:ext uri="{BB962C8B-B14F-4D97-AF65-F5344CB8AC3E}">
        <p14:creationId xmlns:p14="http://schemas.microsoft.com/office/powerpoint/2010/main" val="1334657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C04C4-C8E5-4BC6-A00F-F291D243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開発評価では全体・小傷・細傷の指標が改善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B5F4D-8041-4359-94F9-8A73B600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180c60ab034eb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FC1B0-10B2-4DA8-804D-F2F5DCDE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誤検出画素も減少：4,264画素から3,521画素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B0C3D-C8C5-4851-A280-AD31704E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評価33枚。小傷12個、細傷3個。元モデルの学習履歴が不明なため、未知画像の性能保証ではない。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625522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A7068-BF2C-4961-B23B-8EC7D15B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同一画像での検出結果の比較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65836-157B-47E2-999E-2DA58AC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6c285d53b4f70"/>
          <a:stretch xmlns:a="http://schemas.openxmlformats.org/drawingml/2006/main"/>
        </p:blipFill>
        <p:spPr>
          <a:xfrm xmlns:a="http://schemas.openxmlformats.org/drawingml/2006/main">
            <a:off x="1430655" y="1247775"/>
            <a:ext cx="933069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2D438-F880-4EC7-9940-DAA64D1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左上：入力 ／ 右上：正解注釈 ／ 左下：元モデル ／ 右下：軽量版。赤色が傷領域。</a:t>
            </a:r>
          </a:p>
        </p:txBody>
      </p:sp>
    </p:spTree>
    <p:extLst>
      <p:ext uri="{BB962C8B-B14F-4D97-AF65-F5344CB8AC3E}">
        <p14:creationId xmlns:p14="http://schemas.microsoft.com/office/powerpoint/2010/main" val="1637380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F10A9-1273-4650-9073-FB1DF0D5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評価の制約と次の検証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4E55E-4D3D-4009-8EB1-AFFEAD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95BD3-06C4-4BC0-88CE-AA29F697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今回の結果が示す範囲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FB8B4-B75D-45F6-9B22-AEA1DB9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元モデルの重みを継承している。</a:t>
            </a:r>
          </a:p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元モデルが評価画像を学習した</a:t>
            </a:r>
          </a:p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可能性を排除できない。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DF218-874A-4990-8D13-B6C8DCC8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評価33枚は開発中に確認済み。</a:t>
            </a:r>
          </a:p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細傷は3個と少なく、</a:t>
            </a:r>
          </a:p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同一被写体・撮影系列に限られる。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8B988-D5E5-439A-9C82-D0B17630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335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次に確認する条件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8F4A7-2E24-4A74-90BD-3F88D69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048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別の日・別の被写体で撮影し、</a:t>
            </a:r>
          </a:p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傷の位置を新たに注釈する。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17A4C-B974-4683-98A4-1D8AEB3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504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傷の細さや面積ごとに評価し、</a:t>
            </a:r>
          </a:p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模様・文字・反射の誤検出も</a:t>
            </a:r>
          </a:p>
          <a:p xmlns:a="http://schemas.openxmlformats.org/drawingml/2006/main">
            <a:pPr algn="l">
              <a:defRPr sz="2025" b="0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42D42"/>
                </a:solidFill>
                <a:latin typeface="Meiryo"/>
                <a:ea typeface="Meiryo"/>
                <a:cs typeface="Meiryo"/>
              </a:rPr>
              <a:t>併せて確認する。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372796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625A8-94CE-4DD8-BB26-2FDD9AD3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実行方法と入出力仕様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B5973-810D-49D7-94F1-0F4E4F0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D670F-D465-47FD-B392-9B1EB104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087F8C"/>
                </a:solidFill>
                <a:latin typeface="Meiryo"/>
                <a:ea typeface="Meiryo"/>
                <a:cs typeface="Meiryo"/>
              </a:rPr>
              <a:t>D:\InnCoreTech\Scratch_Detection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28FF7-B4FB-44D9-BA43-3F72FBAE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run_video.bat をダブルクリックして動画を処理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9622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仕様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RGB float32 [1, 3, H, W]、値の範囲0～1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傷の確率 float32 [1, 1, H, W]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二値化・領域抽出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閾値0.8、最小3画素。線を消す開処理なし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47625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入力方法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画像全体を入力。タイル分割は行わない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AC04D-0870-41DE-B91D-B264ACB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CPU平均65ms/画像（推論のみ）。GPU参考10.9ms/画像（1画像計測）。測定条件が異なる参考値。</a:t>
            </a:r>
          </a:p>
        </p:txBody>
      </p:sp>
    </p:spTree>
    <p:extLst>
      <p:ext uri="{BB962C8B-B14F-4D97-AF65-F5344CB8AC3E}">
        <p14:creationId xmlns:p14="http://schemas.microsoft.com/office/powerpoint/2010/main" val="82647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A3C91-2F90-4D70-952E-F1FE697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D42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D42"/>
                </a:solidFill>
                <a:latin typeface="Meiryo"/>
                <a:ea typeface="Meiryo"/>
                <a:cs typeface="Meiryo"/>
              </a:rPr>
              <a:t>付録：学習設定と参照ファイル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64C42-962A-4367-8215-2FDE3070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001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値</a:t>
                      </a:r>
                    </a:p>
                  </a:txBody>
                  <a:tcPr marL="91440" marR="91440" marT="45720" marB="45720" anchor="ctr">
                    <a:solidFill>
                      <a:srgbClr val="142D42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最適化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AdamW、学習率0.001から0.00005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学習量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40エポック × 60ステップ、バッチ8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学習入力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320 × 320の切り出し。50%は傷周辺を重点抽出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損失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BCE + Dice損失 + 補正量の二乗ペナルティ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拡張・固定値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42"/>
                          </a:solidFill>
                          <a:latin typeface="Meiryo"/>
                          <a:ea typeface="Meiryo"/>
                          <a:cs typeface="Meiryo"/>
                        </a:rPr>
                        <a:t>90度単位の回転と反転。seed = 83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5261E-3FEB-4721-921B-608AF27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620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scratch_lite_model.py：構造</a:t>
            </a:r>
          </a:p>
          <a:p xmlns:a="http://schemas.openxmlformats.org/drawingml/2006/main">
            <a:pPr algn="l"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train_scratch_lite.py：学習</a:t>
            </a:r>
          </a:p>
          <a:p xmlns:a="http://schemas.openxmlformats.org/drawingml/2006/main">
            <a:pPr algn="l">
              <a:defRPr sz="1875" b="0">
                <a:solidFill>
                  <a:srgbClr val="667988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667988"/>
                </a:solidFill>
                <a:latin typeface="Meiryo"/>
                <a:ea typeface="Meiryo"/>
                <a:cs typeface="Meiryo"/>
              </a:rPr>
              <a:t>lite_evaluation.json：数値結果</a:t>
            </a:r>
          </a:p>
        </p:txBody>
      </p:sp>
    </p:spTree>
    <p:extLst>
      <p:ext uri="{BB962C8B-B14F-4D97-AF65-F5344CB8AC3E}">
        <p14:creationId xmlns:p14="http://schemas.microsoft.com/office/powerpoint/2010/main" val="347146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2026-09-30T07:30:42.3180000Z</dcterms:created>
  <dcterms:modified xsi:type="dcterms:W3CDTF">2026-09-30T07:30:42.3180000Z</dcterms:modified>
</coreProperties>
</file>