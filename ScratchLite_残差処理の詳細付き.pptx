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2b42d97dc74a5e" /><Relationship Type="http://schemas.openxmlformats.org/officeDocument/2006/relationships/extended-properties" Target="/docProps/app.xml" Id="Rb1888acd88cd4e90" /><Relationship Type="http://schemas.openxmlformats.org/officeDocument/2006/relationships/officeDocument" Target="/ppt/presentation.xml" Id="R45ff41f12a8844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6e2969c7a34456"/>
  </p:sldMasterIdLst>
  <p:notesMasterIdLst>
    <p:notesMasterId xmlns:r="http://schemas.openxmlformats.org/officeDocument/2006/relationships" r:id="R01650e8bfe084fb5"/>
  </p:notesMasterIdLst>
  <p:sldIdLst>
    <p:sldId xmlns:r="http://schemas.openxmlformats.org/officeDocument/2006/relationships" id="256" r:id="R250cac3652f8471a"/>
    <p:sldId xmlns:r="http://schemas.openxmlformats.org/officeDocument/2006/relationships" id="257" r:id="R40a74d42cb1f4ee1"/>
    <p:sldId xmlns:r="http://schemas.openxmlformats.org/officeDocument/2006/relationships" id="258" r:id="Radbb385606284e3f"/>
    <p:sldId xmlns:r="http://schemas.openxmlformats.org/officeDocument/2006/relationships" id="259" r:id="R68fd1431709a424c"/>
    <p:sldId xmlns:r="http://schemas.openxmlformats.org/officeDocument/2006/relationships" id="260" r:id="R39077e327c4d4767"/>
    <p:sldId xmlns:r="http://schemas.openxmlformats.org/officeDocument/2006/relationships" id="261" r:id="Rb6fa090a8c6f4f89"/>
    <p:sldId xmlns:r="http://schemas.openxmlformats.org/officeDocument/2006/relationships" id="262" r:id="Ra8962808784240c6"/>
    <p:sldId xmlns:r="http://schemas.openxmlformats.org/officeDocument/2006/relationships" id="263" r:id="R36fb27b17ca14895"/>
    <p:sldId xmlns:r="http://schemas.openxmlformats.org/officeDocument/2006/relationships" id="264" r:id="R4fe650d93c5f48a3"/>
    <p:sldId xmlns:r="http://schemas.openxmlformats.org/officeDocument/2006/relationships" id="265" r:id="R26d5bd154ab9440a"/>
    <p:sldId xmlns:r="http://schemas.openxmlformats.org/officeDocument/2006/relationships" id="266" r:id="R614174664291495d"/>
    <p:sldId xmlns:r="http://schemas.openxmlformats.org/officeDocument/2006/relationships" id="267" r:id="Rda49fe1d502a4002"/>
    <p:sldId xmlns:r="http://schemas.openxmlformats.org/officeDocument/2006/relationships" id="268" r:id="R8057c82f2b2c4fe3"/>
    <p:sldId xmlns:r="http://schemas.openxmlformats.org/officeDocument/2006/relationships" id="269" r:id="Rb69d6aac583048f4"/>
    <p:sldId xmlns:r="http://schemas.openxmlformats.org/officeDocument/2006/relationships" id="270" r:id="Rfc0e68c9715b4f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a0f7b2208940df" /><Relationship Type="http://schemas.openxmlformats.org/officeDocument/2006/relationships/slideMaster" Target="/ppt/slideMasters/slideMaster1.xml" Id="R6f6e2969c7a34456" /><Relationship Type="http://schemas.openxmlformats.org/officeDocument/2006/relationships/notesMaster" Target="/ppt/notesMasters/notesMaster1.xml" Id="R01650e8bfe084fb5" /><Relationship Type="http://schemas.openxmlformats.org/officeDocument/2006/relationships/presProps" Target="/ppt/presProps.xml" Id="R881e7c0014f54a64" /><Relationship Type="http://schemas.openxmlformats.org/officeDocument/2006/relationships/tableStyles" Target="/ppt/tableStyles.xml" Id="R35a65698b4f94d79" /><Relationship Type="http://schemas.openxmlformats.org/officeDocument/2006/relationships/slide" Target="/ppt/slides/slide1.xml" Id="R250cac3652f8471a" /><Relationship Type="http://schemas.openxmlformats.org/officeDocument/2006/relationships/slide" Target="/ppt/slides/slide2.xml" Id="R40a74d42cb1f4ee1" /><Relationship Type="http://schemas.openxmlformats.org/officeDocument/2006/relationships/slide" Target="/ppt/slides/slide3.xml" Id="Radbb385606284e3f" /><Relationship Type="http://schemas.openxmlformats.org/officeDocument/2006/relationships/slide" Target="/ppt/slides/slide4.xml" Id="R68fd1431709a424c" /><Relationship Type="http://schemas.openxmlformats.org/officeDocument/2006/relationships/slide" Target="/ppt/slides/slide5.xml" Id="R39077e327c4d4767" /><Relationship Type="http://schemas.openxmlformats.org/officeDocument/2006/relationships/slide" Target="/ppt/slides/slide6.xml" Id="Rb6fa090a8c6f4f89" /><Relationship Type="http://schemas.openxmlformats.org/officeDocument/2006/relationships/slide" Target="/ppt/slides/slide7.xml" Id="Ra8962808784240c6" /><Relationship Type="http://schemas.openxmlformats.org/officeDocument/2006/relationships/slide" Target="/ppt/slides/slide8.xml" Id="R36fb27b17ca14895" /><Relationship Type="http://schemas.openxmlformats.org/officeDocument/2006/relationships/slide" Target="/ppt/slides/slide9.xml" Id="R4fe650d93c5f48a3" /><Relationship Type="http://schemas.openxmlformats.org/officeDocument/2006/relationships/slide" Target="/ppt/slides/slide10.xml" Id="R26d5bd154ab9440a" /><Relationship Type="http://schemas.openxmlformats.org/officeDocument/2006/relationships/slide" Target="/ppt/slides/slide11.xml" Id="R614174664291495d" /><Relationship Type="http://schemas.openxmlformats.org/officeDocument/2006/relationships/slide" Target="/ppt/slides/slide12.xml" Id="Rda49fe1d502a4002" /><Relationship Type="http://schemas.openxmlformats.org/officeDocument/2006/relationships/slide" Target="/ppt/slides/slide13.xml" Id="R8057c82f2b2c4fe3" /><Relationship Type="http://schemas.openxmlformats.org/officeDocument/2006/relationships/slide" Target="/ppt/slides/slide14.xml" Id="Rb69d6aac583048f4" /><Relationship Type="http://schemas.openxmlformats.org/officeDocument/2006/relationships/slide" Target="/ppt/slides/slide15.xml" Id="Rfc0e68c9715b4f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b0151d418242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0eae33d4694289" /><Relationship Type="http://schemas.openxmlformats.org/officeDocument/2006/relationships/notesMaster" Target="/ppt/notesMasters/notesMaster1.xml" Id="R0d67b3307e7945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f95e0fdc2b48ba" /><Relationship Type="http://schemas.openxmlformats.org/officeDocument/2006/relationships/notesMaster" Target="/ppt/notesMasters/notesMaster1.xml" Id="R391f0d1148ce4f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f25e10c15d4288" /><Relationship Type="http://schemas.openxmlformats.org/officeDocument/2006/relationships/notesMaster" Target="/ppt/notesMasters/notesMaster1.xml" Id="R71af00c3e1b541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cb663bb7184da3" /><Relationship Type="http://schemas.openxmlformats.org/officeDocument/2006/relationships/notesMaster" Target="/ppt/notesMasters/notesMaster1.xml" Id="Re8e604cc94e647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fc563ebcf544c2" /><Relationship Type="http://schemas.openxmlformats.org/officeDocument/2006/relationships/notesMaster" Target="/ppt/notesMasters/notesMaster1.xml" Id="R37e6af842d8342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e9d3636a804898" /><Relationship Type="http://schemas.openxmlformats.org/officeDocument/2006/relationships/notesMaster" Target="/ppt/notesMasters/notesMaster1.xml" Id="R4e4c8970bc7840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b6a2d2700144de" /><Relationship Type="http://schemas.openxmlformats.org/officeDocument/2006/relationships/notesMaster" Target="/ppt/notesMasters/notesMaster1.xml" Id="R24ac72e677184d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4d3b1fdfb44ee4" /><Relationship Type="http://schemas.openxmlformats.org/officeDocument/2006/relationships/notesMaster" Target="/ppt/notesMasters/notesMaster1.xml" Id="Rf293e1d2a06440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e8ad02a3a34f27" /><Relationship Type="http://schemas.openxmlformats.org/officeDocument/2006/relationships/notesMaster" Target="/ppt/notesMasters/notesMaster1.xml" Id="Reaffac261aed42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7f9aa18183455b" /><Relationship Type="http://schemas.openxmlformats.org/officeDocument/2006/relationships/notesMaster" Target="/ppt/notesMasters/notesMaster1.xml" Id="R8f0cad798a6542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3428afbf994456" /><Relationship Type="http://schemas.openxmlformats.org/officeDocument/2006/relationships/notesMaster" Target="/ppt/notesMasters/notesMaster1.xml" Id="Re16026ee2ea243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c09d66670d43ff" /><Relationship Type="http://schemas.openxmlformats.org/officeDocument/2006/relationships/notesMaster" Target="/ppt/notesMasters/notesMaster1.xml" Id="R607edecfb0734a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978c2d62e04359" /><Relationship Type="http://schemas.openxmlformats.org/officeDocument/2006/relationships/notesMaster" Target="/ppt/notesMasters/notesMaster1.xml" Id="R709cacf45cda48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0caf4085b946d3" /><Relationship Type="http://schemas.openxmlformats.org/officeDocument/2006/relationships/notesMaster" Target="/ppt/notesMasters/notesMaster1.xml" Id="Re9be230b086d4c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a657885e4d4411" /><Relationship Type="http://schemas.openxmlformats.org/officeDocument/2006/relationships/notesMaster" Target="/ppt/notesMasters/notesMaster1.xml" Id="R1e5c02512a8842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D:\InnCoreTech\Scratch_Detection\scratch_lite_model.py</a:t>
            </a:r>
          </a:p>
          <a:p xmlns:a="http://schemas.openxmlformats.org/drawingml/2006/main">
            <a:r>
              <a:t>D:\InnCoreTech\Scratch_Detection\lite_evaluation.json</a:t>
            </a:r>
          </a:p>
          <a:p xmlns:a="http://schemas.openxmlformats.org/drawingml/2006/main">
            <a:r>
              <a:t>D:\InnCoreTech\Scratch_Detection\coco_instance_dataset/images/train/frame_639085097321918120.png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D:\InnCoreTech\Scratch_Detection\lite_evaluation.json</a:t>
            </a:r>
          </a:p>
          <a:p xmlns:a="http://schemas.openxmlformats.org/drawingml/2006/main">
            <a:r>
              <a:t>D:\InnCoreTech\Scratch_Detection\scratch_lite_model.py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D:\InnCoreTech\Scratch_Detection\scratch_lite_model.py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D:\InnCoreTech\Scratch_Detection\scratch_lite_model.py</a:t>
            </a:r>
          </a:p>
          <a:p xmlns:a="http://schemas.openxmlformats.org/drawingml/2006/main">
            <a:r>
              <a:t>D:\InnCoreTech\Scratch_Detection\one_ai_model.onnx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D:\InnCoreTech\Scratch_Detection\scratch_lite_model.py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D:\InnCoreTech\Scratch_Detection\lite_split_manifest.json</a:t>
            </a:r>
          </a:p>
          <a:p xmlns:a="http://schemas.openxmlformats.org/drawingml/2006/main">
            <a:r>
              <a:t>D:\InnCoreTech\Scratch_Detection\train_scratch_lite.py</a:t>
            </a:r>
          </a:p>
          <a:p xmlns:a="http://schemas.openxmlformats.org/drawingml/2006/main">
            <a:r>
              <a:t>D:\InnCoreTech\Scratch_Detection\lite_training_history.json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D:\InnCoreTech\Scratch_Detection\train_scratch.py</a:t>
            </a:r>
          </a:p>
          <a:p xmlns:a="http://schemas.openxmlformats.org/drawingml/2006/main">
            <a:r>
              <a:t>D:\InnCoreTech\Scratch_Detection\lite_evaluation.json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D:\InnCoreTech\Scratch_Detection\lite_evaluation.json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D:\InnCoreTech\Scratch_Detection\lite_comparison_057.jpg</a:t>
            </a:r>
          </a:p>
          <a:p xmlns:a="http://schemas.openxmlformats.org/drawingml/2006/main">
            <a:r>
              <a:t>D:\InnCoreTech\Scratch_Detection\lite_evaluation.json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D:\InnCoreTech\Scratch_Detection\lite_evaluation.json</a:t>
            </a:r>
          </a:p>
          <a:p xmlns:a="http://schemas.openxmlformats.org/drawingml/2006/main">
            <a:r>
              <a:t>D:\InnCoreTech\Scratch_Detection\data_audit.json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D:\InnCoreTech\Scratch_Detection\detect_scratches_lite.py</a:t>
            </a:r>
          </a:p>
          <a:p xmlns:a="http://schemas.openxmlformats.org/drawingml/2006/main">
            <a:r>
              <a:t>D:\InnCoreTech\Scratch_Detection\run_video.bat</a:t>
            </a:r>
          </a:p>
          <a:p xmlns:a="http://schemas.openxmlformats.org/drawingml/2006/main">
            <a:r>
              <a:t>D:\InnCoreTech\Scratch_Detection\scratch_lite.json</a:t>
            </a:r>
          </a:p>
          <a:p xmlns:a="http://schemas.openxmlformats.org/drawingml/2006/main">
            <a:r>
              <a:t>D:\InnCoreTech\Scratch_Detection\lite_evaluation.json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D:\InnCoreTech\Scratch_Detection\train_scratch_lite.py</a:t>
            </a:r>
          </a:p>
          <a:p xmlns:a="http://schemas.openxmlformats.org/drawingml/2006/main">
            <a:r>
              <a:t>D:\InnCoreTech\Scratch_Detection\scratch_lite_model.py</a:t>
            </a:r>
          </a:p>
          <a:p xmlns:a="http://schemas.openxmlformats.org/drawingml/2006/main">
            <a:r>
              <a:t>D:\InnCoreTech\Scratch_Detection\lite_training_history.json</a:t>
            </a:r>
          </a:p>
          <a:p xmlns:a="http://schemas.openxmlformats.org/drawingml/2006/main">
            <a:r>
              <a:t>D:\InnCoreTech\Scratch_Detection\lite_evaluation.json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D:\InnCoreTech\Scratch_Detection\one_ai_model.onnx（グラフを解析）および scratch_lite_model.py の OriginalBackbone。高さ×幅×チャネルを表記。元ONNXはRGBのR成分のみを使用。残差ブロック内の畳み込みは集約して表示。上段の32チャネル特徴をデコーダーで結合する。モデル外での元画像縮小と、出力を元サイズに戻す表示処理は図に含めない。元モデルの出力はint32のクラスID（今回のデータでは0/1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scratch_lite_model.py、scratch_lite.json、train_scratch_lite.py。ScratchLiteは原画像を直接受け取り、内部で256×505に縮小して元モデルの畳み込み部分（重み固定）に通す。ロジットを元解像度へ双線形補間し[-8,8]へclamp。補正層の入力は[RGB*2-1、sigmoid(L_prior)、4*(RGB平均−5×5局所平均)]の5チャネル。補正層は3×3 Conv 5→12→12→8と各ReLU、1×1 Conv 8→1。出力はsigmoid(L_prior + delta)。最終二値化は実行スクリプト側で行い、既定閾値0.8。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scratch_lite_model.py の OriginalBackbone.forward、up_conv_4/5/6。結合済み64×126×96をnearestで2倍に拡大。主経路は3×3 Conv 96→32、ReLU、3×3 Conv 32→32。近道は1×1 Conv 96→32。要素ごとに加算後ReLU。元モデルと軽量モデル内の継承バックボーンに共通で、追加DetailRefinerとは別。表記はH×W×Cでバッチ次元省略。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f7018eb13641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f6ae5ccb56415d" /><Relationship Type="http://schemas.openxmlformats.org/officeDocument/2006/relationships/slideLayout" Target="/ppt/slideLayouts/slideLayout1.xml" Id="R90355436e7a645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355436e7a645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0988cf33e4e80" /><Relationship Type="http://schemas.openxmlformats.org/officeDocument/2006/relationships/image" Target="/ppt/media/image.png" Id="R3b7bb6d935ba4109" /><Relationship Type="http://schemas.openxmlformats.org/officeDocument/2006/relationships/notesSlide" Target="/ppt/notesSlides/notesSlide1.xml" Id="R7d5c94d8249346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6504d80364557" /><Relationship Type="http://schemas.openxmlformats.org/officeDocument/2006/relationships/chart" Target="/ppt/slides/charts/chart1.xml" Id="R6f66b101f61243b5" /><Relationship Type="http://schemas.openxmlformats.org/officeDocument/2006/relationships/notesSlide" Target="/ppt/notesSlides/notesSlide2.xml" Id="R1da7beb2393d44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12fffc539477b" /><Relationship Type="http://schemas.openxmlformats.org/officeDocument/2006/relationships/notesSlide" Target="/ppt/notesSlides/notesSlide3.xml" Id="R1552a4d7a3a648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06d067526438f" /><Relationship Type="http://schemas.openxmlformats.org/officeDocument/2006/relationships/notesSlide" Target="/ppt/notesSlides/notesSlide4.xml" Id="Rbbe49a7585854a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4cb95f62c4191" /><Relationship Type="http://schemas.openxmlformats.org/officeDocument/2006/relationships/notesSlide" Target="/ppt/notesSlides/notesSlide5.xml" Id="R3080e631e53041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4638ff2bd4240" /><Relationship Type="http://schemas.openxmlformats.org/officeDocument/2006/relationships/notesSlide" Target="/ppt/notesSlides/notesSlide6.xml" Id="Rbd064c9c718b47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49fc336124e30" /><Relationship Type="http://schemas.openxmlformats.org/officeDocument/2006/relationships/notesSlide" Target="/ppt/notesSlides/notesSlide7.xml" Id="R8c915338f9b548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02f52afe349b2" /><Relationship Type="http://schemas.openxmlformats.org/officeDocument/2006/relationships/chart" Target="/ppt/slides/charts/chart2.xml" Id="R496c1e77a0194d2d" /><Relationship Type="http://schemas.openxmlformats.org/officeDocument/2006/relationships/notesSlide" Target="/ppt/notesSlides/notesSlide8.xml" Id="Rb63a1ff07fb341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734d58cc34bfe" /><Relationship Type="http://schemas.openxmlformats.org/officeDocument/2006/relationships/image" Target="/ppt/media/image.jpeg" Id="R905b1263679d4146" /><Relationship Type="http://schemas.openxmlformats.org/officeDocument/2006/relationships/notesSlide" Target="/ppt/notesSlides/notesSlide9.xml" Id="Rb942c6fbd4b249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5004f2db94b48" /><Relationship Type="http://schemas.openxmlformats.org/officeDocument/2006/relationships/notesSlide" Target="/ppt/notesSlides/notesSlide10.xml" Id="R92f0815b6f774f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912f6a7324c04" /><Relationship Type="http://schemas.openxmlformats.org/officeDocument/2006/relationships/notesSlide" Target="/ppt/notesSlides/notesSlide11.xml" Id="R3f6df15f82a349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0d3c6b4594d4e" /><Relationship Type="http://schemas.openxmlformats.org/officeDocument/2006/relationships/notesSlide" Target="/ppt/notesSlides/notesSlide12.xml" Id="R7aae803a823c45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90ca878dc4648" /><Relationship Type="http://schemas.openxmlformats.org/officeDocument/2006/relationships/notesSlide" Target="/ppt/notesSlides/notesSlide13.xml" Id="R5fb36a5b5ec34a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292c73d084a0d" /><Relationship Type="http://schemas.openxmlformats.org/officeDocument/2006/relationships/notesSlide" Target="/ppt/notesSlides/notesSlide14.xml" Id="R2896d5d9ff8a4a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1baf11e1342b3" /><Relationship Type="http://schemas.openxmlformats.org/officeDocument/2006/relationships/notesSlide" Target="/ppt/notesSlides/notesSlide15.xml" Id="Rdeaf069f7503494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ONNX容量（MB）</c:v>
          </c:tx>
          <c:dPt>
            <c:idx val="0"/>
            <c:invertIfNegative val="0"/>
            <c:spPr>
              <a:solidFill xmlns:a="http://schemas.openxmlformats.org/drawingml/2006/main">
                <a:srgbClr val="8CA0B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5CDD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87F8C"/>
              </a:solidFill>
            </c:spPr>
          </c:dPt>
          <c:cat>
            <c:strLit>
              <c:ptCount val="3"/>
              <c:pt idx="0">
                <c:v>元モデル</c:v>
              </c:pt>
              <c:pt idx="1">
                <c:v>前回の大型版</c:v>
              </c:pt>
              <c:pt idx="2">
                <c:v>軽量版</c:v>
              </c:pt>
            </c:strLit>
          </c:cat>
          <c:val>
            <c:numLit>
              <c:formatCode>0.00</c:formatCode>
              <c:ptCount val="3"/>
              <c:pt idx="0">
                <c:v>1.157553</c:v>
              </c:pt>
              <c:pt idx="1">
                <c:v>49.885085</c:v>
              </c:pt>
              <c:pt idx="2">
                <c:v>1.174373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42D42"/>
                  </a:solidFill>
                  <a:latin typeface="Meiryo"/>
                  <a:ea typeface="Meiryo"/>
                  <a:cs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  <c:max val="5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DAD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  <c:majorUnit val="10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元モデル</c:v>
          </c:tx>
          <c:spPr>
            <a:solidFill xmlns:a="http://schemas.openxmlformats.org/drawingml/2006/main">
              <a:srgbClr val="8CA0B2"/>
            </a:solidFill>
          </c:spPr>
          <c:cat>
            <c:strLit>
              <c:ptCount val="3"/>
              <c:pt idx="0">
                <c:v>全体Dice</c:v>
              </c:pt>
              <c:pt idx="1">
                <c:v>小傷の画素再現率</c:v>
              </c:pt>
              <c:pt idx="2">
                <c:v>細傷の画素再現率</c:v>
              </c:pt>
            </c:strLit>
          </c:cat>
          <c:val>
            <c:numLit>
              <c:formatCode>0.0</c:formatCode>
              <c:ptCount val="3"/>
              <c:pt idx="0">
                <c:v>71.4535901926</c:v>
              </c:pt>
              <c:pt idx="1">
                <c:v>70.6795858774</c:v>
              </c:pt>
              <c:pt idx="2">
                <c:v>60.284463895</c:v>
              </c:pt>
            </c:numLit>
          </c:val>
        </c:ser>
        <c:ser>
          <c:idx val="1"/>
          <c:order val="1"/>
          <c:tx>
            <c:v>軽量版</c:v>
          </c:tx>
          <c:spPr>
            <a:solidFill xmlns:a="http://schemas.openxmlformats.org/drawingml/2006/main">
              <a:srgbClr val="087F8C"/>
            </a:solidFill>
          </c:spPr>
          <c:cat>
            <c:strLit>
              <c:ptCount val="3"/>
              <c:pt idx="0">
                <c:v>全体Dice</c:v>
              </c:pt>
              <c:pt idx="1">
                <c:v>小傷の画素再現率</c:v>
              </c:pt>
              <c:pt idx="2">
                <c:v>細傷の画素再現率</c:v>
              </c:pt>
            </c:strLit>
          </c:cat>
          <c:val>
            <c:numLit>
              <c:formatCode>0.0</c:formatCode>
              <c:ptCount val="3"/>
              <c:pt idx="0">
                <c:v>79.3751926832</c:v>
              </c:pt>
              <c:pt idx="1">
                <c:v>79.6522431643</c:v>
              </c:pt>
              <c:pt idx="2">
                <c:v>67.7242888403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42D42"/>
                  </a:solidFill>
                  <a:latin typeface="Meiryo"/>
                  <a:ea typeface="Meiryo"/>
                  <a:cs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DADF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Meiryo"/>
              <a:ea typeface="Meiryo"/>
              <a:cs typeface="Meiryo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1C7D6-6F90-4823-88CE-020DA5F5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D64E0-BCBD-4A7E-9FFA-EAE81D63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619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465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軽量スクラッチ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465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検出モデル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7912B-D90E-4131-8539-86AD28F3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538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構造・学習方法・評価結果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852E7-E2DC-41D8-AAD9-DE0521A2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ScratchLite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4F8F9-BB4F-40A7-8E7D-685C8DF7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2026年9月30日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bb6d935ba4109"/>
          <a:srcRect xmlns:a="http://schemas.openxmlformats.org/drawingml/2006/main" l="25157" t="0" r="251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57250"/>
            <a:ext cx="5000625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1818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6CE87-052D-484A-8331-842E08CE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元モデルとほぼ同じ容量に再設計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38879-F60B-4FED-BB76-058A4FCF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7762875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66b101f61243b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1598D-513D-40FA-B275-7E920290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525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97.6%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37F34-7AE8-4FF0-B0C1-4AE82575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大型版から容量削減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C2807-C6FE-40B9-BDEF-A1691581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338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FP32のまま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量子化は不使用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70B27-6807-49CB-B21B-9F5B9C99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元モデル 1.158MB ／ 軽量版 1.174MB。MBは1,000,000 bytesとして計算。</a:t>
            </a:r>
          </a:p>
        </p:txBody>
      </p:sp>
    </p:spTree>
    <p:extLst>
      <p:ext uri="{BB962C8B-B14F-4D97-AF65-F5344CB8AC3E}">
        <p14:creationId xmlns:p14="http://schemas.microsoft.com/office/powerpoint/2010/main" val="12778908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32A54-F1E2-4353-AFEC-9C53B113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全体構成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F0A50-63A9-43BB-8CBA-71CF2445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99045-A840-4059-B840-C9433EC6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元の検出経路を固定し、元解像度で輪郭を補正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5E3D8-A217-49CB-9F52-CB6028F9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600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9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RGB画像</a:t>
            </a:r>
          </a:p>
          <a:p xmlns:a="http://schemas.openxmlformats.org/drawingml/2006/main">
            <a:pPr algn="ctr">
              <a:buNone/>
              <a:defRPr sz="19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9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H × 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15B8C-FAE7-4E18-B794-F32993AF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85950"/>
            <a:ext cx="1762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縮小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256 × 505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40B23-64F9-4364-B667-96C8C13A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859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畳み込み20層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32F16-9C77-4730-A99C-9E501DA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85950"/>
            <a:ext cx="2047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拡大・制限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基準値 L_prior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F91F5-A3C4-46BC-907C-D61E9A49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71925"/>
            <a:ext cx="3095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元解像度のRGB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局所コントラスト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59F8F-C87A-427C-9073-FA99A54B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71925"/>
            <a:ext cx="2333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輪郭補正 + 加算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学習する部分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3E397-57FD-4146-95D3-FA18887C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71925"/>
            <a:ext cx="1390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Sigmoid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傷の確率</a:t>
            </a:r>
          </a:p>
        </p:txBody>
      </p:sp>
      <p:cxnSp>
        <p:nvCxnSpPr>
          <p:cNvPr id="6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209800" y="2343150"/>
            <a:ext cx="742950" cy="962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14875" y="23431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23431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09800" y="3305175"/>
            <a:ext cx="742950" cy="1152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48375" y="4457700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8501063" y="2800350"/>
            <a:ext cx="285750" cy="1171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667875" y="44577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1B09B-2E2A-4580-A82C-6F5CC62B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571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重みを固定：285,521パラメーター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55AAC-ED69-4440-887D-ADC30927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補正層：2,741パラメーター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97468-B912-4B07-9064-B343F931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L_priorは元モデルの出力ロジットを補間し、−8～8に制限した値。画像全体を入力する。</a:t>
            </a:r>
          </a:p>
        </p:txBody>
      </p:sp>
    </p:spTree>
    <p:extLst>
      <p:ext uri="{BB962C8B-B14F-4D97-AF65-F5344CB8AC3E}">
        <p14:creationId xmlns:p14="http://schemas.microsoft.com/office/powerpoint/2010/main" val="1680667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AE70F-97CE-492A-A4B5-879FEA7D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元モデルを再利用する経路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6CB6F-8C2A-49A6-893D-8CFC939F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57325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238500"/>
                <a:gridCol w="1524000"/>
                <a:gridCol w="3257550"/>
              </a:tblGrid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段階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空間サイズ（高さ × 幅）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チャネル数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主な処理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入力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256 × 505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RGBのR成分を選択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初期処理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128 × 252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畳み込み + MaxPool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エンコーダー①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64 × 126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残差ブロック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エンコーダー②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32 × 63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残差ブロック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デコーダー①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64 × 126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拡大 + 残差ブロック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結合・デコーダー②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128 × 252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特徴結合 + 拡大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出力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128 × 252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16チャネルを経由して出力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EFD87-9EF7-47F2-B22D-AFD68D4D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元モデルの学習済み重みをそのまま移植し、追加学習では更新しない。</a:t>
            </a:r>
          </a:p>
        </p:txBody>
      </p:sp>
    </p:spTree>
    <p:extLst>
      <p:ext uri="{BB962C8B-B14F-4D97-AF65-F5344CB8AC3E}">
        <p14:creationId xmlns:p14="http://schemas.microsoft.com/office/powerpoint/2010/main" val="15972449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EE37E-630F-44B0-ACB7-583E66A0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元解像度の補正層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F6865-221A-4CAF-BFBC-CDD278AA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10D86-23F0-42BD-BFF1-C0049FA4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5チャネルの入力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089BC-8B97-492E-9882-4FAAC1A3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RGB 3成分 + 基準確率 1成分 + 局所コントラスト 1成分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DAECD-CF9D-4AA8-AC70-E66D05F8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入力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H × W ×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9A7F5-73DE-406E-9B73-C5315AB3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62250"/>
            <a:ext cx="1638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3 × 3 Conv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5 →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E5E93-9809-4E90-95BA-5F852F98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62250"/>
            <a:ext cx="1638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3 × 3 Conv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12 →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8D9E8-350F-47AD-A0CF-9E17ABDC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62250"/>
            <a:ext cx="1638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3 × 3 Conv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12 →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CAADE-2D29-4275-9677-8F2F4745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62250"/>
            <a:ext cx="1638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 × 1 Conv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8 → 1</a:t>
            </a:r>
          </a:p>
        </p:txBody>
      </p:sp>
      <p:cxnSp>
        <p:nvCxnSpPr>
          <p:cNvPr id="5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28850" y="32385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33875" y="32385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438900" y="32385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543925" y="32385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E6DCC-235C-4464-AB67-88C67BAB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各3 × 3畳み込みの後にReLU。空間サイズはH × Wのまま。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35872-F6BD-42EB-AD73-D1E6DE93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L_out = L_prior + ΔL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5C816-4510-4AC1-B975-0ACDDC81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053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p = sigmoid(L_out)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52E281-525E-445D-8C58-2D95E098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局所コントラスト = RGB平均 − 5 × 5近傍平均。補正層は画像を縮小しない。</a:t>
            </a:r>
          </a:p>
        </p:txBody>
      </p:sp>
    </p:spTree>
    <p:extLst>
      <p:ext uri="{BB962C8B-B14F-4D97-AF65-F5344CB8AC3E}">
        <p14:creationId xmlns:p14="http://schemas.microsoft.com/office/powerpoint/2010/main" val="5787561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5E102-CEB9-45A5-B1F9-678591ED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学習データとモデル選択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D8AB9-39C5-4D6D-B394-6B7C4F0D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447675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1381125"/>
              </a:tblGrid>
              <a:tr h="6096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画像数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</a:tr>
              <a:tr h="6096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補正層の学習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143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6096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検証・閾値選択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開発評価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33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6096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境界付近の除外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233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7C282-7847-4A8F-9D6D-A47AE748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撮影順で区間を分割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E19B5-1276-4DE7-9F93-45EF31A4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5810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撮影区間内の後半を検証・評価に使用。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分割境界の前後に除外画像を設ける。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9BAE0-EC52-4C2A-8FED-395B4EF5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81400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補正層のみ40エポック学習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A9693-FFD5-4E03-818A-A7ABB216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81475"/>
            <a:ext cx="5810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検証Diceでチェックポイントと閾値を選択。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採用は22エポック目、閾値0.8。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FC5A6-97CC-4081-937E-FA5B60A8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同一被写体・同一撮影系列のデータ。新たな撮影条件での独立評価ではない。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17714780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DCF94-E10A-4512-9534-2C2F6999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評価指標の読み方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81806-098C-47D8-82AE-545C6BA2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C7BC9-833B-4839-B8C6-C02EC04B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全体の一致度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42F3C-7BF0-4BBF-AD62-6FBB52E4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Dice = 2TP / (2TP + FP + FN)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5A2CE-79F6-466F-B42B-664874F1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正解の傷領域と予測領域の重なりを測る。誤検出と見逃しの両方を反映。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6CC1E-694C-48B1-9C30-ECC6B368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小傷・細傷の画素再現率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5AD19-B525-43EF-B465-21083031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注釈で傷とした画素のうち、何％を検出したか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7618F-A5A7-4154-9E01-27330E06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小傷：面積1,024画素以下。細傷：2 × 面積 ÷ 外周長が6画素以下。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9E824-295F-4E7F-B398-0AEF6A42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TP：正しく検出した傷画素、FP：誤検出画素、FN：見逃した傷画素。個数の検出率とは異なる。</a:t>
            </a:r>
          </a:p>
        </p:txBody>
      </p:sp>
    </p:spTree>
    <p:extLst>
      <p:ext uri="{BB962C8B-B14F-4D97-AF65-F5344CB8AC3E}">
        <p14:creationId xmlns:p14="http://schemas.microsoft.com/office/powerpoint/2010/main" val="1334657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C04C4-C8E5-4BC6-A00F-F291D243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開発評価では全体・小傷・細傷の指標が改善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B5F4D-8041-4359-94F9-8A73B600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6c1e77a0194d2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FC1B0-10B2-4DA8-804D-F2F5DCDE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誤検出画素も減少：4,264画素から3,521画素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B0C3D-C8C5-4851-A280-AD31704E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評価33枚。小傷12個、細傷3個。元モデルの学習履歴が不明なため、未知画像の性能保証ではない。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625522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A7068-BF2C-4961-B23B-8EC7D15B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同一画像での検出結果の比較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65836-157B-47E2-999E-2DA58AC4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b1263679d4146"/>
          <a:stretch xmlns:a="http://schemas.openxmlformats.org/drawingml/2006/main"/>
        </p:blipFill>
        <p:spPr>
          <a:xfrm xmlns:a="http://schemas.openxmlformats.org/drawingml/2006/main">
            <a:off x="1430655" y="1247775"/>
            <a:ext cx="9330690" cy="4724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2D438-F880-4EC7-9940-DAA64D16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左上：入力 ／ 右上：正解注釈 ／ 左下：元モデル ／ 右下：軽量版。赤色が傷領域。</a:t>
            </a:r>
          </a:p>
        </p:txBody>
      </p:sp>
    </p:spTree>
    <p:extLst>
      <p:ext uri="{BB962C8B-B14F-4D97-AF65-F5344CB8AC3E}">
        <p14:creationId xmlns:p14="http://schemas.microsoft.com/office/powerpoint/2010/main" val="1637380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F10A9-1273-4650-9073-FB1DF0D5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評価の制約と次の検証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4E55E-4D3D-4009-8EB1-AFFEAD73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95BD3-06C4-4BC0-88CE-AA29F697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今回の結果が示す範囲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FB8B4-B75D-45F6-9B22-AEA1DB98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04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元モデルの重みを継承している。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元モデルが評価画像を学習した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可能性を排除できない。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DF218-874A-4990-8D13-B6C8DCC8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04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評価33枚は開発中に確認済み。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細傷は3個と少なく、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同一被写体・撮影系列に限られる。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8B988-D5E5-439A-9C82-D0B17630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335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次に確認する条件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8F4A7-2E24-4A74-90BD-3F88D697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5048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別の日・別の被写体で撮影し、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傷の位置を新たに注釈する。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17A4C-B974-4683-98A4-1D8AEB33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57650"/>
            <a:ext cx="504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傷の細さや面積ごとに評価し、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模様・文字・反射の誤検出も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併せて確認する。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3727969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625A8-94CE-4DD8-BB26-2FDD9AD3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実行方法と入出力仕様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B5973-810D-49D7-94F1-0F4E4F02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D670F-D465-47FD-B392-9B1EB104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D:\InnCoreTech\Scratch_Detection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28FF7-B4FB-44D9-BA43-3F72FBAE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run_video.bat をダブルクリックして動画を処理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96227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10550"/>
              </a:tblGrid>
              <a:tr h="47625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仕様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</a:tr>
              <a:tr h="47625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入力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RGB float32 [1, 3, H, W]、値の範囲0～1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47625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出力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傷の確率 float32 [1, 1, H, W]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二値化・領域抽出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閾値0.8、最小3画素。線を消す開処理なし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47625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入力方法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画像全体を入力。タイル分割は行わない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AC04D-0870-41DE-B91D-B264ACB1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CPU平均65ms/画像（推論のみ）。GPU参考10.9ms/画像（1画像計測）。測定条件が異なる参考値。</a:t>
            </a:r>
          </a:p>
        </p:txBody>
      </p:sp>
    </p:spTree>
    <p:extLst>
      <p:ext uri="{BB962C8B-B14F-4D97-AF65-F5344CB8AC3E}">
        <p14:creationId xmlns:p14="http://schemas.microsoft.com/office/powerpoint/2010/main" val="826474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A3C91-2F90-4D70-952E-F1FE6971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付録：学習設定と参照ファイル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64C42-962A-4367-8215-2FDE3070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0017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5238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設定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値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</a:tr>
              <a:tr h="5238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最適化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AdamW、学習率0.001から0.00005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5238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学習量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40エポック × 60ステップ、バッチ8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学習入力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320 × 320の切り出し。50%は傷周辺を重点抽出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5238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損失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BCE + Dice損失 + 補正量の二乗ペナルティ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拡張・固定値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90度単位の回転と反転。seed = 83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5261E-3FEB-4721-921B-608AF272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6203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scratch_lite_model.py：構造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train_scratch_lite.py：学習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lite_evaluation.json：数値結果</a:t>
            </a:r>
          </a:p>
        </p:txBody>
      </p:sp>
    </p:spTree>
    <p:extLst>
      <p:ext uri="{BB962C8B-B14F-4D97-AF65-F5344CB8AC3E}">
        <p14:creationId xmlns:p14="http://schemas.microsoft.com/office/powerpoint/2010/main" val="3471468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6A82EB-8B87-4118-B3CC-9DB460E9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元モデルの構成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F7744-0BB9-4293-98A4-D6C7AC90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C99BB-984F-41DB-A72B-E966AB65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one_ai_model.onnx   1.158 MB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61661-C449-4BD8-88AE-95E54DDC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619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RGB入力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256×505×3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3D818-7DE9-4699-B607-2123D716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71675"/>
            <a:ext cx="1428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57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R成分を選択</a:t>
            </a:r>
          </a:p>
          <a:p xmlns:a="http://schemas.openxmlformats.org/drawingml/2006/main">
            <a:pPr algn="ctr">
              <a:buNone/>
              <a:defRPr sz="157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57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256×505×1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557E2-2583-4769-89AB-05E06E15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71675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Conv + MaxPool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128 × 252 ×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BA475-B7CC-4016-84FC-22786B09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71675"/>
            <a:ext cx="1905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エンコーダー①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64 × 126 ×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AF161-4B82-4E80-A254-34191AEA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71675"/>
            <a:ext cx="1905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エンコーダー②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32 × 63 × 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9BBC6-C8E1-418F-98A1-7FCFAE96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43375"/>
            <a:ext cx="1905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拡大 + 残差処理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64 × 126 × 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869DF-874C-44FD-8381-B120A3F8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43375"/>
            <a:ext cx="1905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特徴を結合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64 × 126 × 96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51C78-04E6-4D8A-A4B3-829A67D1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43375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拡大 + 残差処理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128 × 252 × 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BCE16-BBC0-4D82-9C15-6BABBAB0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43375"/>
            <a:ext cx="1428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出力層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Sigmoid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閾値0.5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2CA63-5EAF-4FA9-8E63-B20AD12F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619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二値マスク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128×252×1</a:t>
            </a:r>
          </a:p>
        </p:txBody>
      </p:sp>
      <p:cxnSp>
        <p:nvCxnSpPr>
          <p:cNvPr id="6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28850" y="24717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43350" y="24717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229350" y="24717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420100" y="24717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658350" y="2971800"/>
            <a:ext cx="0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8420100" y="4643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6229350" y="4643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943350" y="4643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2228850" y="4643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467600" y="2971800"/>
            <a:ext cx="0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056BCD-3222-4307-960D-38FD3A0B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05175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スキップ接続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6CBA95-7628-4C27-A948-024AC729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0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出力は入力より粗い128 × 252画素のマスク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57CCD5-04EB-42BA-820F-FE91460A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図の寸法は高さ × 幅 × チャネル。元画像の縮小と、出力の元サイズへの拡大はモデル外で行う。</a:t>
            </a:r>
          </a:p>
        </p:txBody>
      </p:sp>
    </p:spTree>
    <p:extLst>
      <p:ext uri="{BB962C8B-B14F-4D97-AF65-F5344CB8AC3E}">
        <p14:creationId xmlns:p14="http://schemas.microsoft.com/office/powerpoint/2010/main" val="5304795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47BCC0-AF20-4988-B1F4-95158EC9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新しい軽量モデルの構成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B10C6-0540-4652-AFB5-0DE5376E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05FA0-FD79-4B6F-A06D-078DC3AC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scratch_lite.onnx   1.174 MB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5320B-EFFB-4C02-A06C-65F226E6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9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元解像度のRGB</a:t>
            </a:r>
          </a:p>
          <a:p xmlns:a="http://schemas.openxmlformats.org/drawingml/2006/main">
            <a:pPr algn="ctr">
              <a:buNone/>
              <a:defRPr sz="19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9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H × W ×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859DF-EEC9-4D24-B701-B76EBCA7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9812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縮小256 × 505・R成分選択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元モデルの畳み込み20層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出力 128 × 252 ×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B5A35-3B53-41F6-A6E3-F498B346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812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元解像度へ拡大・制限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基準ロジット L_prior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H × W ×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CCCD3-08BC-438E-A723-C296D631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5チャネル入力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RGB・基準確率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局所コントラスト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DD493-137C-4A1C-93E9-A2B4B90B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4337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補正層 2,741パラメーター</a:t>
            </a:r>
          </a:p>
          <a:p xmlns:a="http://schemas.openxmlformats.org/drawingml/2006/main">
            <a:pPr algn="ctr">
              <a:buNone/>
              <a:defRPr sz="16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3×3 Conv：5→12→12→8</a:t>
            </a:r>
          </a:p>
          <a:p xmlns:a="http://schemas.openxmlformats.org/drawingml/2006/main">
            <a:pPr algn="ctr">
              <a:buNone/>
              <a:defRPr sz="16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1×1 Conv：8→1 （ΔL）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072A1-B946-4D20-92FE-4D8128E7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43375"/>
            <a:ext cx="1476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加算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基準値 + ΔL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EA750-44C0-42FC-BC3A-D12A5122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Sigmoid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確率 H × W × 1</a:t>
            </a:r>
          </a:p>
        </p:txBody>
      </p:sp>
      <p:sp>
        <p:nvSpPr>
          <p:cNvPr id="11" name="prior-input-port">
            <a:extLst xmlns:a="http://schemas.openxmlformats.org/drawingml/2006/main">
              <a:ext uri="{FF2B5EF4-FFF2-40B4-BE49-F238E27FC236}">
                <a16:creationId xmlns:a16="http://schemas.microsoft.com/office/drawing/2014/main" id="{DE8FE193-BAFD-43DF-A640-46EF4E88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124325"/>
            <a:ext cx="952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81350" y="2514600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905625" y="2514600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895475" y="3048000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6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2857500" y="3048000"/>
            <a:ext cx="6105525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81350" y="4676775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4676775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8224838" y="3048000"/>
            <a:ext cx="738188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963025" y="4676775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7F3AD-9E62-4B74-86B8-A3CE15F2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5906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灰色：元モデルの重みを固定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260AB-B775-4C4C-96E0-503F0609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元解像度で補正し、H × W画素の確率マップを出力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9B490D-E3C6-4B97-8226-9CBD433D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追加学習は補正層のみ。二値化はモデル外で実施し、既定の閾値は0.8。</a:t>
            </a:r>
          </a:p>
        </p:txBody>
      </p:sp>
    </p:spTree>
    <p:extLst>
      <p:ext uri="{BB962C8B-B14F-4D97-AF65-F5344CB8AC3E}">
        <p14:creationId xmlns:p14="http://schemas.microsoft.com/office/powerpoint/2010/main" val="11149819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E81BAA-F6EB-4664-9CB4-E367192E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「拡大 + 残差処理」の内部構造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C6498-5731-4CEF-AE95-85F1E393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547B9-ADBE-49AB-A407-B0800489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空間サイズを2倍にし、2つの経路を足して32チャネルに整える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BE55F-3DA8-4847-ADC2-85F5B91D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571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結合済み特徴</a:t>
            </a:r>
          </a:p>
          <a:p xmlns:a="http://schemas.openxmlformats.org/drawingml/2006/main">
            <a:pPr algn="ctr">
              <a:defRPr sz="16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64×126×96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E84EF-0F4C-4B99-BFE3-B19EDA20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67000"/>
            <a:ext cx="171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最近傍で2倍</a:t>
            </a:r>
          </a:p>
          <a:p xmlns:a="http://schemas.openxmlformats.org/drawingml/2006/main">
            <a:pPr algn="ctr">
              <a:defRPr sz="16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128×252×96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6960F-E5CC-48A1-A96B-F35965CF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62125"/>
            <a:ext cx="1666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3×3 Conv</a:t>
            </a:r>
          </a:p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96→32</a:t>
            </a:r>
          </a:p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ReLU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5A9BA-77A4-4C25-939F-1C3C34D7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62125"/>
            <a:ext cx="1666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3×3 Conv</a:t>
            </a:r>
          </a:p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32→32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4F156-EA6A-4BDE-B11A-44DA8C6C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48125"/>
            <a:ext cx="3714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1×1 Conv（射影）</a:t>
            </a:r>
          </a:p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96→32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F60B2-2647-4F04-BDCD-54382B1A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67000"/>
            <a:ext cx="95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Add</a:t>
            </a:r>
          </a:p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加算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19F43-251F-4221-856D-E54EE807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0"/>
            <a:ext cx="1571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ReLU</a:t>
            </a:r>
          </a:p>
          <a:p xmlns:a="http://schemas.openxmlformats.org/drawingml/2006/main">
            <a:pPr algn="ctr">
              <a:defRPr sz="16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128×252×32</a:t>
            </a:r>
          </a:p>
        </p:txBody>
      </p: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181225" y="31432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181475" y="2295525"/>
            <a:ext cx="485775" cy="847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334125" y="22955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181475" y="3143250"/>
            <a:ext cx="485775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382000" y="2295525"/>
            <a:ext cx="904875" cy="3714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8382000" y="3619500"/>
            <a:ext cx="904875" cy="8572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763125" y="3143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326C6-6560-4AF9-8375-3FDDE175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28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主経路：周辺の特徴を処理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CBE89-ED95-429B-B2F6-A6F5750F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146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128×252×32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16BF26-C879-468E-A7A5-346ADECF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957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087F8C"/>
                </a:solidFill>
                <a:latin typeface="Meiryo"/>
                <a:ea typeface="Meiryo"/>
                <a:cs typeface="Meiryo"/>
              </a:rPr>
              <a:t>近道：チャネル数を合わせる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4D88E-F2E8-4A26-B952-3F604BFE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91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128×252×32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3CFF3-6D02-4476-A5F3-C989702C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出力 = ReLU（主経路の出力 + 近道の出力）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BEAA42-E419-49AF-9238-EC67F7C5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寸法は高さ×幅×チャネル。3×3 Convはstride=1・padding=1。加算は同じ位置・チャネルごとに行う。</a:t>
            </a:r>
          </a:p>
        </p:txBody>
      </p:sp>
    </p:spTree>
    <p:extLst>
      <p:ext uri="{BB962C8B-B14F-4D97-AF65-F5344CB8AC3E}">
        <p14:creationId xmlns:p14="http://schemas.microsoft.com/office/powerpoint/2010/main" val="1913489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2026-09-30T07:57:30.4510000Z</dcterms:created>
  <dcterms:modified xsi:type="dcterms:W3CDTF">2026-09-30T07:57:30.4510000Z</dcterms:modified>
</coreProperties>
</file>